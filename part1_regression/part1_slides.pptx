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  <a:latin typeface="Calibri"/>
              </a:defRPr>
            </a:pPr>
            <a:r>
              <a:t>Part 1: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Predicting S&amp;P 500 Stock Closing Prices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Dataset: S&amp;P 500 Stocks (Kaggle)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Calibri"/>
              </a:defRPr>
            </a:pPr>
            <a: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- Source: S&amp;P 500 Stocks (Kaggle) -- daily OHLCV data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Top 50 companies by market cap, 2018-present (~60K rows)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Target: Close (daily closing price)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Merged with company fundamentals (sector, market cap, EBITDA)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- 16 engineered features: lags, rolling averages, volume change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Calibri"/>
              </a:defRPr>
            </a:pPr>
            <a:r>
              <a:t>Feature Correlation</a:t>
            </a:r>
          </a:p>
        </p:txBody>
      </p:sp>
      <p:pic>
        <p:nvPicPr>
          <p:cNvPr id="3" name="Picture 2" descr="figur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6400800" cy="56723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Strong linear relationships between Close and Open/High/Low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Calibri"/>
              </a:defRPr>
            </a:pPr>
            <a:r>
              <a:t>Models Trained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- Linear Regression (baseline)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Lasso Regression (L1)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Ridge Regression (L2)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SVR (StandardScaler pipeline, RBF kernel)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Decision Tree (max_depth=15)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Random Forest (n_estimators=100, max_depth=20)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Neural Network (Keras, 3 hidden layers, StandardScaler)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Calibri"/>
              </a:defRPr>
            </a:pPr>
            <a:r>
              <a:t>Hyperparameter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- Model tuned: Random Forest via GridSearchCV (3-fold CV)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Parameters: n_estimators [100,200,300], max_depth [10,20,30], min_samples_split [2,5,10]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Best: n_estimators=300, max_depth=30, min_samples_split=2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Improvement: RMSE 1.0295 -&gt; 1.0256 (0.37%)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Calibri"/>
              </a:defRPr>
            </a:pPr>
            <a:r>
              <a:t>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Calibri"/>
                        </a:defRPr>
                      </a:pPr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Calibri"/>
                        </a:defRPr>
                      </a:pPr>
                      <a: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Calibri"/>
                        </a:defRPr>
                      </a:pPr>
                      <a:r>
                        <a:t>R2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0.0001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1.0000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Lasso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0.0297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0.0172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1.0000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Neural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0.8693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0.6073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0.9999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Random Forest (Tuned)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1.0256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0.5203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0.9999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1.4913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0.7512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0.9998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2.4065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1.4050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0.9995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SVR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10.3737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0.6864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alibri"/>
                        </a:defRPr>
                      </a:pPr>
                      <a:r>
                        <a:t>0.9914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Calibri"/>
              </a:defRPr>
            </a:pPr>
            <a:r>
              <a:t>Model Comparison</a:t>
            </a:r>
          </a:p>
        </p:txBody>
      </p:sp>
      <p:pic>
        <p:nvPicPr>
          <p:cNvPr id="3" name="Picture 2" descr="figur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6400800" cy="23751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RMSE and R2 comparison across all models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Calibri"/>
              </a:defRPr>
            </a:pPr>
            <a:r>
              <a:t>Feature Importances (Random Forest)</a:t>
            </a:r>
          </a:p>
        </p:txBody>
      </p:sp>
      <p:pic>
        <p:nvPicPr>
          <p:cNvPr id="3" name="Picture 2" descr="figur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6400800" cy="31761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669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Low (59.1%) and High (40.6%) dominate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- All models achieved R2 &gt; 0.99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Lasso reduced features from 16 to 7 (only price features survived)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Close is almost entirely determined by same-day OHLC features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GridSearchCV gave modest improvement -- default RF was near-optimal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- Recommended model: Ridge Regression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Lowest RMSE (0.0001) and perfect R2 (1.0000)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L2 regularization handles multicollinearity among correlated price features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- For forecasting future prices (no same-day data), tree-based models would likely outperform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